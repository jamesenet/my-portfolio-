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BM Plex Sans Medium" panose="020B0603050203000203" pitchFamily="34" charset="0"/>
      <p:regular r:id="rId13"/>
    </p:embeddedFont>
    <p:embeddedFont>
      <p:font typeface="Roboto" panose="02000000000000000000" pitchFamily="2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727"/>
    <a:srgbClr val="353333"/>
    <a:srgbClr val="272525"/>
    <a:srgbClr val="5A5A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78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8054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46054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Student Performance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968829"/>
            <a:ext cx="482631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By Cornelius Enetomhe</a:t>
            </a:r>
            <a:endParaRPr lang="en-US" sz="35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4875967"/>
            <a:ext cx="4267200" cy="8930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A19F7EE-AB21-D5E2-9604-DC0863D38B37}"/>
              </a:ext>
            </a:extLst>
          </p:cNvPr>
          <p:cNvSpPr/>
          <p:nvPr/>
        </p:nvSpPr>
        <p:spPr>
          <a:xfrm>
            <a:off x="12770603" y="7806266"/>
            <a:ext cx="1859797" cy="423333"/>
          </a:xfrm>
          <a:prstGeom prst="rect">
            <a:avLst/>
          </a:prstGeom>
          <a:solidFill>
            <a:srgbClr val="2927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A4B35820-F91C-DE3C-1DE1-1294AD27C636}"/>
              </a:ext>
            </a:extLst>
          </p:cNvPr>
          <p:cNvSpPr/>
          <p:nvPr/>
        </p:nvSpPr>
        <p:spPr>
          <a:xfrm>
            <a:off x="455123" y="814097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Executive Summary</a:t>
            </a:r>
            <a:endParaRPr lang="en-US" sz="330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8536A382-CDED-DE0A-D79A-7E880C6ED9C7}"/>
              </a:ext>
            </a:extLst>
          </p:cNvPr>
          <p:cNvSpPr/>
          <p:nvPr/>
        </p:nvSpPr>
        <p:spPr>
          <a:xfrm>
            <a:off x="455124" y="167950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Overview</a:t>
            </a:r>
            <a:endParaRPr lang="en-US" sz="265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5DFAAD80-13C7-F7CA-81D0-DD5C11EB6287}"/>
              </a:ext>
            </a:extLst>
          </p:cNvPr>
          <p:cNvSpPr/>
          <p:nvPr/>
        </p:nvSpPr>
        <p:spPr>
          <a:xfrm>
            <a:off x="455124" y="2438585"/>
            <a:ext cx="8401010" cy="5045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educational dashboard provides a comprehensive view of student performance across years, subjects, assessments, teachers, and demographics. This analysis offers a comprehensive overview of student academic trends, identifying key areas of strength and opportunities for improvement. We'll explore performance across subjects, assessments, and demographics to inform strategic educational enhancements.</a:t>
            </a:r>
            <a:endParaRPr lang="en-US" sz="2400" dirty="0"/>
          </a:p>
          <a:p>
            <a:pPr marL="0" indent="0" algn="l">
              <a:buNone/>
            </a:pPr>
            <a:r>
              <a:rPr lang="en-US" sz="2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Overall results indicate strong academic performance, improved pass rates, and consistent teaching outcomes, even as student enrollment increased significantly.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93790" y="858467"/>
            <a:ext cx="431839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Key Performance Highlights</a:t>
            </a:r>
            <a:endParaRPr lang="en-US" sz="2650" dirty="0"/>
          </a:p>
        </p:txBody>
      </p:sp>
      <p:sp>
        <p:nvSpPr>
          <p:cNvPr id="6" name="Shape 4"/>
          <p:cNvSpPr/>
          <p:nvPr/>
        </p:nvSpPr>
        <p:spPr>
          <a:xfrm>
            <a:off x="793790" y="2242913"/>
            <a:ext cx="6457593" cy="966073"/>
          </a:xfrm>
          <a:prstGeom prst="roundRect">
            <a:avLst>
              <a:gd name="adj" fmla="val 2641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6671" y="2435794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Improved Pass Rates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86671" y="2777980"/>
            <a:ext cx="607183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From 69.2% (2022) to a stable 80% (2023-2025).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78898" y="2242913"/>
            <a:ext cx="6457712" cy="966073"/>
          </a:xfrm>
          <a:prstGeom prst="roundRect">
            <a:avLst>
              <a:gd name="adj" fmla="val 2641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71780" y="2435794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Consistent Scores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571780" y="2777980"/>
            <a:ext cx="607194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student scores maintained academic standards.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3790" y="3336502"/>
            <a:ext cx="6457593" cy="966073"/>
          </a:xfrm>
          <a:prstGeom prst="roundRect">
            <a:avLst>
              <a:gd name="adj" fmla="val 2641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6671" y="3529383"/>
            <a:ext cx="249233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Targeted Support Needed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86671" y="3871569"/>
            <a:ext cx="607183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Lower averages in P.E., Foreign Language, Computer Science.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78898" y="3336502"/>
            <a:ext cx="6457712" cy="966073"/>
          </a:xfrm>
          <a:prstGeom prst="roundRect">
            <a:avLst>
              <a:gd name="adj" fmla="val 2641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71780" y="3529383"/>
            <a:ext cx="221944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Project-Based Success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571780" y="3871569"/>
            <a:ext cx="607194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Assessments yielded best student performance.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93790" y="4446045"/>
            <a:ext cx="6457593" cy="966073"/>
          </a:xfrm>
          <a:prstGeom prst="roundRect">
            <a:avLst>
              <a:gd name="adj" fmla="val 2641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6671" y="4638927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Mid-Year Dips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86671" y="4981112"/>
            <a:ext cx="607183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June-July performance dips, strong year-end recovery.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78898" y="4446045"/>
            <a:ext cx="6457712" cy="966073"/>
          </a:xfrm>
          <a:prstGeom prst="roundRect">
            <a:avLst>
              <a:gd name="adj" fmla="val 2641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71780" y="4638927"/>
            <a:ext cx="2397800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Manageable Failure Rate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571780" y="4981112"/>
            <a:ext cx="607194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Overall, 20%, requires attention with enrollment growth.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93790" y="5539635"/>
            <a:ext cx="6457593" cy="966073"/>
          </a:xfrm>
          <a:prstGeom prst="roundRect">
            <a:avLst>
              <a:gd name="adj" fmla="val 2641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6671" y="5732516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Consistent Teachers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86671" y="6074701"/>
            <a:ext cx="607183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Minimal variation in teacher performance.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378898" y="5539635"/>
            <a:ext cx="6457712" cy="966073"/>
          </a:xfrm>
          <a:prstGeom prst="roundRect">
            <a:avLst>
              <a:gd name="adj" fmla="val 2641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71780" y="5732516"/>
            <a:ext cx="246304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Gender Performance Gap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7571780" y="6074701"/>
            <a:ext cx="607194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Female students outperform males by 3.78 points.</a:t>
            </a:r>
            <a:endParaRPr lang="en-US" sz="14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330648E-F594-1B7C-D3AC-632AF36DBC92}"/>
              </a:ext>
            </a:extLst>
          </p:cNvPr>
          <p:cNvSpPr/>
          <p:nvPr/>
        </p:nvSpPr>
        <p:spPr>
          <a:xfrm>
            <a:off x="12770603" y="7806266"/>
            <a:ext cx="1859797" cy="423333"/>
          </a:xfrm>
          <a:prstGeom prst="rect">
            <a:avLst/>
          </a:prstGeom>
          <a:solidFill>
            <a:srgbClr val="2927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1403" y="590312"/>
            <a:ext cx="5298400" cy="436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Key Insights: Progress &amp; Stability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403" y="1264325"/>
            <a:ext cx="2298263" cy="22982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1403" y="3664625"/>
            <a:ext cx="3219569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Pass Rate Soars with Enrollment Growth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51403" y="3973235"/>
            <a:ext cx="6393656" cy="368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 pass rates improved by 10.8% (69.2% in 2022 to 80% in 2023-2025), even as student population grew from 13 to 50.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2960" y="1264325"/>
            <a:ext cx="2283738" cy="22837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92960" y="3650099"/>
            <a:ext cx="2540079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Consistent Academic Standards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7492960" y="3958709"/>
            <a:ext cx="6393656" cy="368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student scores across subjects remain around the 70% mark, indicating stable academic quality.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403" y="4627245"/>
            <a:ext cx="2152769" cy="215276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51403" y="6882051"/>
            <a:ext cx="1887141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Decreasing Failure Rate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751403" y="7190661"/>
            <a:ext cx="6393656" cy="368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Failure rate decreased from 30% to 20% of the student population from 2022 to 2025, demonstrating positive trend.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2960" y="4627245"/>
            <a:ext cx="2312789" cy="231278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92960" y="7042071"/>
            <a:ext cx="6393656" cy="184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trends highlight effective educational strategies adapting to significant growth.</a:t>
            </a:r>
            <a:endParaRPr lang="en-US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1DE103-FAEC-EE48-9FD3-C12ECDF97A8F}"/>
              </a:ext>
            </a:extLst>
          </p:cNvPr>
          <p:cNvSpPr/>
          <p:nvPr/>
        </p:nvSpPr>
        <p:spPr>
          <a:xfrm>
            <a:off x="12770603" y="7806266"/>
            <a:ext cx="1859797" cy="423333"/>
          </a:xfrm>
          <a:prstGeom prst="rect">
            <a:avLst/>
          </a:prstGeom>
          <a:solidFill>
            <a:srgbClr val="2927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70409"/>
            <a:ext cx="770060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Key Insights: Monthly Performance Trends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58246"/>
            <a:ext cx="2897624" cy="22906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573905"/>
            <a:ext cx="247530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Mid-Year Performance Dips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3790" y="4932998"/>
            <a:ext cx="6327815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 consistently declines during June–July, followed by strong recovery towards year-end.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416" y="2158246"/>
            <a:ext cx="2897624" cy="249566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16416" y="4778931"/>
            <a:ext cx="2080617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Periods Below Average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7516416" y="5138023"/>
            <a:ext cx="6327815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Majority of months show student averages below the mean, with lows in March, June, and July.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793790" y="5795010"/>
            <a:ext cx="6465808" cy="1064062"/>
          </a:xfrm>
          <a:prstGeom prst="roundRect">
            <a:avLst>
              <a:gd name="adj" fmla="val 2238"/>
            </a:avLst>
          </a:prstGeom>
          <a:solidFill>
            <a:srgbClr val="484B51"/>
          </a:solidFill>
          <a:ln/>
        </p:spPr>
      </p:sp>
      <p:sp>
        <p:nvSpPr>
          <p:cNvPr id="10" name="Text 6"/>
          <p:cNvSpPr/>
          <p:nvPr/>
        </p:nvSpPr>
        <p:spPr>
          <a:xfrm>
            <a:off x="952500" y="5953720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Peak Performance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952500" y="6268403"/>
            <a:ext cx="6148388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performance in January, April, November, and December, with Q4 as the strongest quarter.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370683" y="5795010"/>
            <a:ext cx="6465927" cy="1064062"/>
          </a:xfrm>
          <a:prstGeom prst="roundRect">
            <a:avLst>
              <a:gd name="adj" fmla="val 2238"/>
            </a:avLst>
          </a:prstGeom>
          <a:solidFill>
            <a:srgbClr val="484B51"/>
          </a:solidFill>
          <a:ln/>
        </p:spPr>
      </p:sp>
      <p:sp>
        <p:nvSpPr>
          <p:cNvPr id="13" name="Text 9"/>
          <p:cNvSpPr/>
          <p:nvPr/>
        </p:nvSpPr>
        <p:spPr>
          <a:xfrm>
            <a:off x="7529393" y="5953720"/>
            <a:ext cx="1995487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Strategic Intervention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7529393" y="6268403"/>
            <a:ext cx="6148507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Identifying these patterns allows for targeted interventions to bolster performance during weaker periods.</a:t>
            </a:r>
            <a:endParaRPr lang="en-US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F0ADBB-458C-B56B-0D10-44A3DC0604BD}"/>
              </a:ext>
            </a:extLst>
          </p:cNvPr>
          <p:cNvSpPr/>
          <p:nvPr/>
        </p:nvSpPr>
        <p:spPr>
          <a:xfrm>
            <a:off x="12770603" y="7806266"/>
            <a:ext cx="1859797" cy="423333"/>
          </a:xfrm>
          <a:prstGeom prst="rect">
            <a:avLst/>
          </a:prstGeom>
          <a:solidFill>
            <a:srgbClr val="2927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9056"/>
            <a:ext cx="1022627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Key Insights: Assessment &amp; Subject Performance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966913"/>
            <a:ext cx="3241477" cy="19377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067889"/>
            <a:ext cx="236743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Project-Based Success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496514"/>
            <a:ext cx="4051935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Project-based assessments yielded highest average scores (73.6%), favoring applied learning.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6019" y="1966913"/>
            <a:ext cx="3209568" cy="25532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96019" y="468344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Quarterly Challenges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5296019" y="5112068"/>
            <a:ext cx="4051935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Quarterly assessments recorded lowest averages (66.0%), posing the most difficulty for students.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8248" y="1966913"/>
            <a:ext cx="3241477" cy="231838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98248" y="4448532"/>
            <a:ext cx="2699385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Subjects Needing Support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9798248" y="4877157"/>
            <a:ext cx="4051935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P.E., Foreign Language, and Computer Science show lower averages, indicating areas for targeted support.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793790" y="5954673"/>
            <a:ext cx="13042821" cy="1255871"/>
          </a:xfrm>
          <a:prstGeom prst="roundRect">
            <a:avLst>
              <a:gd name="adj" fmla="val 2167"/>
            </a:avLst>
          </a:prstGeom>
          <a:solidFill>
            <a:srgbClr val="484B51"/>
          </a:solidFill>
          <a:ln/>
        </p:spPr>
      </p:sp>
      <p:sp>
        <p:nvSpPr>
          <p:cNvPr id="13" name="Shape 8"/>
          <p:cNvSpPr/>
          <p:nvPr/>
        </p:nvSpPr>
        <p:spPr>
          <a:xfrm>
            <a:off x="793790" y="5954673"/>
            <a:ext cx="6521410" cy="1255871"/>
          </a:xfrm>
          <a:prstGeom prst="roundRect">
            <a:avLst>
              <a:gd name="adj" fmla="val 2167"/>
            </a:avLst>
          </a:prstGeom>
          <a:solidFill>
            <a:srgbClr val="484B51"/>
          </a:solidFill>
          <a:ln/>
        </p:spPr>
      </p:sp>
      <p:sp>
        <p:nvSpPr>
          <p:cNvPr id="14" name="Text 9"/>
          <p:cNvSpPr/>
          <p:nvPr/>
        </p:nvSpPr>
        <p:spPr>
          <a:xfrm>
            <a:off x="975241" y="6136124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Strongest Subjects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975241" y="6506647"/>
            <a:ext cx="6158508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English Language, Art &amp; Design, Science, and History emerge as top-performing subjects.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7315200" y="5954673"/>
            <a:ext cx="6521410" cy="1255871"/>
          </a:xfrm>
          <a:prstGeom prst="rect">
            <a:avLst/>
          </a:prstGeom>
          <a:solidFill>
            <a:srgbClr val="484B51"/>
          </a:solidFill>
          <a:ln/>
        </p:spPr>
      </p:sp>
      <p:sp>
        <p:nvSpPr>
          <p:cNvPr id="17" name="Shape 12"/>
          <p:cNvSpPr/>
          <p:nvPr/>
        </p:nvSpPr>
        <p:spPr>
          <a:xfrm>
            <a:off x="7315200" y="5954673"/>
            <a:ext cx="22860" cy="1255871"/>
          </a:xfrm>
          <a:prstGeom prst="roundRect">
            <a:avLst>
              <a:gd name="adj" fmla="val 119070"/>
            </a:avLst>
          </a:prstGeom>
          <a:solidFill>
            <a:srgbClr val="61646A"/>
          </a:solidFill>
          <a:ln/>
        </p:spPr>
      </p:sp>
      <p:sp>
        <p:nvSpPr>
          <p:cNvPr id="18" name="Text 13"/>
          <p:cNvSpPr/>
          <p:nvPr/>
        </p:nvSpPr>
        <p:spPr>
          <a:xfrm>
            <a:off x="7496651" y="6136124"/>
            <a:ext cx="2394823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Insights for Curriculum</a:t>
            </a:r>
            <a:endParaRPr lang="en-US" sz="1750" dirty="0"/>
          </a:p>
        </p:txBody>
      </p:sp>
      <p:sp>
        <p:nvSpPr>
          <p:cNvPr id="19" name="Text 14"/>
          <p:cNvSpPr/>
          <p:nvPr/>
        </p:nvSpPr>
        <p:spPr>
          <a:xfrm>
            <a:off x="7496651" y="6506647"/>
            <a:ext cx="6158508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findings inform curriculum adjustments and pedagogical approaches.</a:t>
            </a:r>
            <a:endParaRPr lang="en-US" sz="1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16E997-E547-3203-3650-34F6CA4AC43B}"/>
              </a:ext>
            </a:extLst>
          </p:cNvPr>
          <p:cNvSpPr/>
          <p:nvPr/>
        </p:nvSpPr>
        <p:spPr>
          <a:xfrm>
            <a:off x="12770603" y="7806266"/>
            <a:ext cx="1859797" cy="423333"/>
          </a:xfrm>
          <a:prstGeom prst="rect">
            <a:avLst/>
          </a:prstGeom>
          <a:solidFill>
            <a:srgbClr val="2927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8543"/>
            <a:ext cx="10075307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Key Findings: Scalability &amp; Subject Focus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93790" y="1709023"/>
            <a:ext cx="6419017" cy="4713327"/>
          </a:xfrm>
          <a:prstGeom prst="roundRect">
            <a:avLst>
              <a:gd name="adj" fmla="val 3104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1709023"/>
            <a:ext cx="121920" cy="4713327"/>
          </a:xfrm>
          <a:prstGeom prst="roundRect">
            <a:avLst>
              <a:gd name="adj" fmla="val 26512"/>
            </a:avLst>
          </a:prstGeom>
          <a:solidFill>
            <a:srgbClr val="FFBC8F"/>
          </a:solidFill>
          <a:ln/>
        </p:spPr>
      </p:sp>
      <p:sp>
        <p:nvSpPr>
          <p:cNvPr id="5" name="Text 3"/>
          <p:cNvSpPr/>
          <p:nvPr/>
        </p:nvSpPr>
        <p:spPr>
          <a:xfrm>
            <a:off x="1131094" y="1954887"/>
            <a:ext cx="5835848" cy="807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Performance Scaled Successfully with Enrollment Growth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131094" y="2885599"/>
            <a:ext cx="5835848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 enrollment </a:t>
            </a:r>
            <a:r>
              <a:rPr lang="en-US" sz="16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increased nearly 4x</a:t>
            </a: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(13 → 50 students) between 2022 and 2025.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31094" y="3629382"/>
            <a:ext cx="5835848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Pass rates </a:t>
            </a:r>
            <a:r>
              <a:rPr lang="en-US" sz="16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improved from 69.2% to a sustained 80%</a:t>
            </a: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indicating effective instructional quality.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31094" y="4373166"/>
            <a:ext cx="5835848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scores across subjects remained stable at ~</a:t>
            </a:r>
            <a:r>
              <a:rPr lang="en-US" sz="16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70%</a:t>
            </a: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131094" y="5168146"/>
            <a:ext cx="5835848" cy="100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Implication:</a:t>
            </a: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system is resilient and capable of supporting further growth without immediate risk to outcomes.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417475" y="1709023"/>
            <a:ext cx="6419136" cy="4713327"/>
          </a:xfrm>
          <a:prstGeom prst="roundRect">
            <a:avLst>
              <a:gd name="adj" fmla="val 3104"/>
            </a:avLst>
          </a:prstGeom>
          <a:solidFill>
            <a:srgbClr val="292C32"/>
          </a:solidFill>
          <a:ln w="30480">
            <a:solidFill>
              <a:srgbClr val="6164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86995" y="1709023"/>
            <a:ext cx="121920" cy="4713327"/>
          </a:xfrm>
          <a:prstGeom prst="roundRect">
            <a:avLst>
              <a:gd name="adj" fmla="val 26512"/>
            </a:avLst>
          </a:prstGeom>
          <a:solidFill>
            <a:srgbClr val="FFBC8F"/>
          </a:solidFill>
          <a:ln/>
        </p:spPr>
      </p:sp>
      <p:sp>
        <p:nvSpPr>
          <p:cNvPr id="12" name="Text 10"/>
          <p:cNvSpPr/>
          <p:nvPr/>
        </p:nvSpPr>
        <p:spPr>
          <a:xfrm>
            <a:off x="7754779" y="1954887"/>
            <a:ext cx="5835968" cy="807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Subject Performance Concentrated Around a Narrow Band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754779" y="2885599"/>
            <a:ext cx="5835968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Top-performing subjects:</a:t>
            </a: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English Language, Art &amp; Design, Science, and History.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754779" y="3629382"/>
            <a:ext cx="5835968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Underperforming subjects:</a:t>
            </a: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Physical Education, Foreign Language, and Computer Science.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754779" y="4373166"/>
            <a:ext cx="5835968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 variance is narrow (</a:t>
            </a:r>
            <a:r>
              <a:rPr lang="en-US" sz="16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≈3 points</a:t>
            </a: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), indicating systemic rather than isolated issues.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754779" y="5168146"/>
            <a:ext cx="5835968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Implication:</a:t>
            </a:r>
            <a:r>
              <a:rPr lang="en-US" sz="16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Targeted, subject-specific interventions can yield quick performance gains.</a:t>
            </a:r>
            <a:endParaRPr lang="en-US" sz="16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48FB3B-68F4-9ABF-BDF1-FCA36FCC7980}"/>
              </a:ext>
            </a:extLst>
          </p:cNvPr>
          <p:cNvSpPr/>
          <p:nvPr/>
        </p:nvSpPr>
        <p:spPr>
          <a:xfrm>
            <a:off x="12770603" y="7806266"/>
            <a:ext cx="1859797" cy="423333"/>
          </a:xfrm>
          <a:prstGeom prst="rect">
            <a:avLst/>
          </a:prstGeom>
          <a:solidFill>
            <a:srgbClr val="2927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13485"/>
            <a:ext cx="7435929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Key Findings: Assessment &amp; Workload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6280190" y="1936433"/>
            <a:ext cx="7556421" cy="2329815"/>
          </a:xfrm>
          <a:prstGeom prst="roundRect">
            <a:avLst>
              <a:gd name="adj" fmla="val 17525"/>
            </a:avLst>
          </a:prstGeom>
          <a:solidFill>
            <a:srgbClr val="484B51"/>
          </a:solidFill>
          <a:ln/>
        </p:spPr>
      </p:sp>
      <p:sp>
        <p:nvSpPr>
          <p:cNvPr id="5" name="Text 2"/>
          <p:cNvSpPr/>
          <p:nvPr/>
        </p:nvSpPr>
        <p:spPr>
          <a:xfrm>
            <a:off x="6450211" y="2106454"/>
            <a:ext cx="5552123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Assessment Design is a Key Performance Driver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50211" y="2501741"/>
            <a:ext cx="721637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Project-based assessments</a:t>
            </a:r>
            <a:r>
              <a:rPr lang="en-US" sz="13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deliver strongest outcomes (avg. 73.6%).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50211" y="2784515"/>
            <a:ext cx="721637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Quarterly assessments</a:t>
            </a:r>
            <a:r>
              <a:rPr lang="en-US" sz="13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show weakest performance (avg. 66.0%).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50211" y="3067288"/>
            <a:ext cx="721637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Weekly assessments sit mid-range, suggesting assessment frequency correlates with performance.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50211" y="3619976"/>
            <a:ext cx="721637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Implication:</a:t>
            </a:r>
            <a:r>
              <a:rPr lang="en-US" sz="13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Students perform better in applied and continuous evaluation. High-stakes assessments are primary risk points.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80190" y="4393763"/>
            <a:ext cx="7556421" cy="1808917"/>
          </a:xfrm>
          <a:prstGeom prst="roundRect">
            <a:avLst>
              <a:gd name="adj" fmla="val 22571"/>
            </a:avLst>
          </a:prstGeom>
          <a:solidFill>
            <a:srgbClr val="484B51"/>
          </a:solidFill>
          <a:ln/>
        </p:spPr>
      </p:sp>
      <p:sp>
        <p:nvSpPr>
          <p:cNvPr id="11" name="Text 8"/>
          <p:cNvSpPr/>
          <p:nvPr/>
        </p:nvSpPr>
        <p:spPr>
          <a:xfrm>
            <a:off x="6450211" y="4563785"/>
            <a:ext cx="6112193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Mid-Year Performance Dip Signals Structural Fatigue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50211" y="4959072"/>
            <a:ext cx="721637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 declines consistently during </a:t>
            </a:r>
            <a:r>
              <a:rPr lang="en-US" sz="13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June–July</a:t>
            </a:r>
            <a:r>
              <a:rPr lang="en-US" sz="13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followed by strong year-end recovery.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50211" y="5241846"/>
            <a:ext cx="721637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 indicates </a:t>
            </a:r>
            <a:r>
              <a:rPr lang="en-US" sz="13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academic load concentration</a:t>
            </a:r>
            <a:r>
              <a:rPr lang="en-US" sz="13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rather than capability gaps.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50211" y="5556409"/>
            <a:ext cx="721637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Implication:</a:t>
            </a:r>
            <a:r>
              <a:rPr lang="en-US" sz="13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Redistributing workload or introducing mid-year academic support could materially improve outcomes.</a:t>
            </a:r>
            <a:endParaRPr lang="en-US" sz="13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B82CA8-C6A2-F805-DC79-7D2BC74F5F5C}"/>
              </a:ext>
            </a:extLst>
          </p:cNvPr>
          <p:cNvSpPr/>
          <p:nvPr/>
        </p:nvSpPr>
        <p:spPr>
          <a:xfrm>
            <a:off x="12770603" y="7806266"/>
            <a:ext cx="1859797" cy="423333"/>
          </a:xfrm>
          <a:prstGeom prst="rect">
            <a:avLst/>
          </a:prstGeom>
          <a:solidFill>
            <a:srgbClr val="2927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31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8399" y="590907"/>
            <a:ext cx="7640003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Key Findings: Teaching &amp; Demographics</a:t>
            </a:r>
            <a:endParaRPr lang="en-US" sz="3350" dirty="0"/>
          </a:p>
        </p:txBody>
      </p:sp>
      <p:sp>
        <p:nvSpPr>
          <p:cNvPr id="4" name="Shape 1"/>
          <p:cNvSpPr/>
          <p:nvPr/>
        </p:nvSpPr>
        <p:spPr>
          <a:xfrm>
            <a:off x="6238399" y="2129314"/>
            <a:ext cx="7640003" cy="2101810"/>
          </a:xfrm>
          <a:prstGeom prst="roundRect">
            <a:avLst>
              <a:gd name="adj" fmla="val 5221"/>
            </a:avLst>
          </a:prstGeom>
          <a:solidFill>
            <a:srgbClr val="292C32"/>
          </a:solidFill>
          <a:ln/>
        </p:spPr>
      </p:sp>
      <p:sp>
        <p:nvSpPr>
          <p:cNvPr id="5" name="Shape 2"/>
          <p:cNvSpPr/>
          <p:nvPr/>
        </p:nvSpPr>
        <p:spPr>
          <a:xfrm>
            <a:off x="6238399" y="2106454"/>
            <a:ext cx="7640003" cy="91440"/>
          </a:xfrm>
          <a:prstGeom prst="roundRect">
            <a:avLst>
              <a:gd name="adj" fmla="val 28201"/>
            </a:avLst>
          </a:prstGeom>
          <a:solidFill>
            <a:srgbClr val="FFBC8F"/>
          </a:solidFill>
          <a:ln/>
        </p:spPr>
      </p:sp>
      <p:sp>
        <p:nvSpPr>
          <p:cNvPr id="6" name="Shape 3"/>
          <p:cNvSpPr/>
          <p:nvPr/>
        </p:nvSpPr>
        <p:spPr>
          <a:xfrm>
            <a:off x="9800570" y="1871543"/>
            <a:ext cx="515660" cy="515660"/>
          </a:xfrm>
          <a:prstGeom prst="roundRect">
            <a:avLst>
              <a:gd name="adj" fmla="val 177326"/>
            </a:avLst>
          </a:prstGeom>
          <a:solidFill>
            <a:srgbClr val="FFBC8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55232" y="2026206"/>
            <a:ext cx="206216" cy="2062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33066" y="2559010"/>
            <a:ext cx="3276838" cy="322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Consistent Teaching Quality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6433066" y="2963823"/>
            <a:ext cx="7250668" cy="49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Minimal variance in average scores across teachers. No outlier instructors driving poor or exceptional </a:t>
            </a:r>
            <a:r>
              <a:rPr lang="en-US" sz="16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</a:t>
            </a: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433066" y="3541395"/>
            <a:ext cx="7250668" cy="49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Implication:</a:t>
            </a: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Performance issues are </a:t>
            </a:r>
            <a:r>
              <a:rPr lang="en-US" sz="14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systemic</a:t>
            </a: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not personnel-driven. Solutions should focus on curriculum and assessment design.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238399" y="4626412"/>
            <a:ext cx="7640003" cy="2184321"/>
          </a:xfrm>
          <a:prstGeom prst="roundRect">
            <a:avLst>
              <a:gd name="adj" fmla="val 5023"/>
            </a:avLst>
          </a:prstGeom>
          <a:solidFill>
            <a:srgbClr val="292C32"/>
          </a:solidFill>
          <a:ln/>
        </p:spPr>
      </p:sp>
      <p:sp>
        <p:nvSpPr>
          <p:cNvPr id="12" name="Shape 8"/>
          <p:cNvSpPr/>
          <p:nvPr/>
        </p:nvSpPr>
        <p:spPr>
          <a:xfrm>
            <a:off x="6238399" y="4603552"/>
            <a:ext cx="7640003" cy="91440"/>
          </a:xfrm>
          <a:prstGeom prst="roundRect">
            <a:avLst>
              <a:gd name="adj" fmla="val 28201"/>
            </a:avLst>
          </a:prstGeom>
          <a:solidFill>
            <a:srgbClr val="FFBC8F"/>
          </a:solidFill>
          <a:ln/>
        </p:spPr>
      </p:sp>
      <p:sp>
        <p:nvSpPr>
          <p:cNvPr id="13" name="Shape 9"/>
          <p:cNvSpPr/>
          <p:nvPr/>
        </p:nvSpPr>
        <p:spPr>
          <a:xfrm>
            <a:off x="9800570" y="4368641"/>
            <a:ext cx="515660" cy="515660"/>
          </a:xfrm>
          <a:prstGeom prst="roundRect">
            <a:avLst>
              <a:gd name="adj" fmla="val 177326"/>
            </a:avLst>
          </a:prstGeom>
          <a:solidFill>
            <a:srgbClr val="FFBC8F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55232" y="4523303"/>
            <a:ext cx="206216" cy="20621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33066" y="5056108"/>
            <a:ext cx="3600569" cy="322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Manageable Demographic Gap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6433066" y="5460921"/>
            <a:ext cx="7250668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Female students outperform male students by </a:t>
            </a:r>
            <a:r>
              <a:rPr lang="en-US" sz="14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3.78 points</a:t>
            </a: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433066" y="5790962"/>
            <a:ext cx="7250668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Gap is consistent but not widening.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33066" y="6121003"/>
            <a:ext cx="7250668" cy="49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Implication:</a:t>
            </a: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While not critical, targeted engagement strategies for male students could close the gap over time.</a:t>
            </a:r>
            <a:endParaRPr lang="en-US" sz="1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1BB33ED-2B0E-3121-2BA5-C09389098617}"/>
              </a:ext>
            </a:extLst>
          </p:cNvPr>
          <p:cNvSpPr/>
          <p:nvPr/>
        </p:nvSpPr>
        <p:spPr>
          <a:xfrm>
            <a:off x="12770603" y="7806266"/>
            <a:ext cx="1859797" cy="423333"/>
          </a:xfrm>
          <a:prstGeom prst="rect">
            <a:avLst/>
          </a:prstGeom>
          <a:solidFill>
            <a:srgbClr val="2927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8429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20923"/>
            <a:ext cx="6108621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Recommendations for Improvement</a:t>
            </a:r>
            <a:endParaRPr lang="en-US" sz="29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225403"/>
            <a:ext cx="737116" cy="88451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26632" y="3326673"/>
            <a:ext cx="3718679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Redesign Quarterly Assessment Preparation</a:t>
            </a: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1626632" y="3660577"/>
            <a:ext cx="1220997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Introduce structured revision cycles and formative checkpoints to improve performance in challenging assessments.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109918"/>
            <a:ext cx="737116" cy="88451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26632" y="4211188"/>
            <a:ext cx="410229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Prioritize Support for Lower-Performing Subjects</a:t>
            </a: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1626632" y="4545092"/>
            <a:ext cx="1220997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on Physical Education, Foreign Languages, and Computer Science with targeted academic interventions.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4994434"/>
            <a:ext cx="737116" cy="88451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626632" y="5095703"/>
            <a:ext cx="2943344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Address Mid-Year Performance Dip</a:t>
            </a:r>
            <a:endParaRPr lang="en-US" dirty="0"/>
          </a:p>
        </p:txBody>
      </p:sp>
      <p:sp>
        <p:nvSpPr>
          <p:cNvPr id="12" name="Text 6"/>
          <p:cNvSpPr/>
          <p:nvPr/>
        </p:nvSpPr>
        <p:spPr>
          <a:xfrm>
            <a:off x="1626632" y="5429607"/>
            <a:ext cx="1220997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academic recovery programs or workload smoothing strategies to maintain consistent performance throughout the year.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5878949"/>
            <a:ext cx="737116" cy="88451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626632" y="5980218"/>
            <a:ext cx="2771775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Maintain Current Teaching Model</a:t>
            </a:r>
            <a:endParaRPr lang="en-US" dirty="0"/>
          </a:p>
        </p:txBody>
      </p:sp>
      <p:sp>
        <p:nvSpPr>
          <p:cNvPr id="15" name="Text 8"/>
          <p:cNvSpPr/>
          <p:nvPr/>
        </p:nvSpPr>
        <p:spPr>
          <a:xfrm>
            <a:off x="1626632" y="6314123"/>
            <a:ext cx="12209978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immediate intervention required at the staff level, as teaching quality is consistently high.</a:t>
            </a:r>
            <a:endParaRPr lang="en-US" sz="1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68105C-D510-3103-DE6A-743F276DC8CD}"/>
              </a:ext>
            </a:extLst>
          </p:cNvPr>
          <p:cNvSpPr/>
          <p:nvPr/>
        </p:nvSpPr>
        <p:spPr>
          <a:xfrm>
            <a:off x="12770603" y="7806266"/>
            <a:ext cx="1859797" cy="423333"/>
          </a:xfrm>
          <a:prstGeom prst="rect">
            <a:avLst/>
          </a:prstGeom>
          <a:solidFill>
            <a:srgbClr val="2927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877</Words>
  <Application>Microsoft Office PowerPoint</Application>
  <PresentationFormat>Custom</PresentationFormat>
  <Paragraphs>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Roboto</vt:lpstr>
      <vt:lpstr>IBM Plex Sans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Cornelius Enetomhe</cp:lastModifiedBy>
  <cp:revision>2</cp:revision>
  <dcterms:created xsi:type="dcterms:W3CDTF">2026-01-20T11:03:19Z</dcterms:created>
  <dcterms:modified xsi:type="dcterms:W3CDTF">2026-01-28T11:24:59Z</dcterms:modified>
</cp:coreProperties>
</file>